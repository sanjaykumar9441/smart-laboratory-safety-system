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project. This is an IoT-based lab safety project built during your internship.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agenda. Six main sections: overview, architecture, hardware, software, results,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problem: labs are dangerous and conventional safety is reactive, not proactive. Our solution is always-on IoT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uses a 3-tier architecture: sensors feed into ESP32, which pushes data to Firebase, which the Android app reads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component briefly. Highlight that ESP32 replaces NodeMCU with better specs — dual core, more GPIO, native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 GPIO assignments. Thresholds are hardcoded in firmware — any single threshold exceeded triggers the full alarm.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4-step control loop. Emphasize OR-logic: even one hazard triggers the full response. Local actuation is instant; cloud is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stores a single /Laboratory JSON node. The app listens via ValueEventListener — no polling, instant push. Auth prevents unauthorized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scenarios passed. Highlight the sub-1.5-second end-to-end latency — this is well within human reaction time, so it's safe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the system works, meets all objectives, validated through simulation. Future: real sensors, TinyML at the edge, MQTT.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up. Invite questions. Emphasize this is both an internship major project and a potential IEEE conference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09E7E">
              <a:alpha val="12000"/>
            </a:srgbClr>
          </a:solidFill>
          <a:ln w="12700">
            <a:solidFill>
              <a:srgbClr val="009E7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240280"/>
            <a:ext cx="10058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Laboratory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ESP32, Firebase Realtime Database &amp; MIT App Inventor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8046720" cy="18288"/>
          </a:xfrm>
          <a:prstGeom prst="rect">
            <a:avLst/>
          </a:prstGeom>
          <a:solidFill>
            <a:srgbClr val="7EB8AA">
              <a:alpha val="40000"/>
            </a:srgbClr>
          </a:solidFill>
          <a:ln w="12700">
            <a:solidFill>
              <a:srgbClr val="7EB8A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1546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2233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32278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3493008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Chitturi Sanjay Kumar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33472" y="31546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2233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32278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0" y="3493008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24B11EC057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18304" y="31546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2233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32278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28032" y="3493008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Communication Engg.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03136" y="31546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62233"/>
          </a:solidFill>
          <a:ln w="12700">
            <a:solidFill>
              <a:srgbClr val="00D4AA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12864" y="32278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12864" y="3493008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University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256032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560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SPS STUDENT BRANCH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162233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270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16152" y="1508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6152" y="1911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73752" y="141732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162233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10912" y="15270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86984" y="1508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6984" y="1911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IoT design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162233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700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16152" y="2651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16152" y="3054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sensors &amp; actuators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73752" y="256032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162233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26700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86984" y="2651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Implementation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86984" y="3054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Firmware, Firebase &amp; mobile 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162233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8130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16152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16152" y="4197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validation &amp; metrics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73752" y="3703320"/>
            <a:ext cx="4114800" cy="1024128"/>
          </a:xfrm>
          <a:prstGeom prst="roundRect">
            <a:avLst>
              <a:gd name="adj" fmla="val 8929"/>
            </a:avLst>
          </a:prstGeom>
          <a:solidFill>
            <a:srgbClr val="162233"/>
          </a:solidFill>
          <a:ln w="12700">
            <a:solidFill>
              <a:srgbClr val="00D4A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381304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86984" y="3794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86984" y="41970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162233"/>
          </a:solidFill>
          <a:ln w="12700">
            <a:solidFill>
              <a:srgbClr val="FF4D4D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264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 contain hazardous chemicals, fire risks &amp; high-voltage equipment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3957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safety relies on manual inspection — not real-time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9443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instant alert system for remote stakeholders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4930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goes undetected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40416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 logging or historical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81728" y="1298448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162233"/>
          </a:solidFill>
          <a:ln w="12700">
            <a:solidFill>
              <a:srgbClr val="4EDE8A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4264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18470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multi-sensor IoT node for continuous monitoring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64608" y="23957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threshold detection with auto alarm &amp; relay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4608" y="29443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sync for instant remote visibility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64608" y="34930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 for unauthorized access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40416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with color-coded Safe / Danger alerts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98448"/>
            <a:ext cx="2697480" cy="3493008"/>
          </a:xfrm>
          <a:prstGeom prst="roundRect">
            <a:avLst>
              <a:gd name="adj" fmla="val 3390"/>
            </a:avLst>
          </a:prstGeom>
          <a:solidFill>
            <a:srgbClr val="162233"/>
          </a:solidFill>
          <a:ln w="12700">
            <a:solidFill>
              <a:srgbClr val="FF9B54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FF9B54">
              <a:alpha val="80000"/>
            </a:srgbClr>
          </a:solidFill>
          <a:ln w="12700">
            <a:solidFill>
              <a:srgbClr val="FF9B54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3502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3776" y="15361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&amp;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Layer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21208" y="202996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 –  Temp &amp; Humidity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5511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 –  Gas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307238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 –  Motion Sensor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35935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Sensor (KY-026)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41148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/ Buzzer / 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36976" y="1298448"/>
            <a:ext cx="2697480" cy="3493008"/>
          </a:xfrm>
          <a:prstGeom prst="roundRect">
            <a:avLst>
              <a:gd name="adj" fmla="val 3390"/>
            </a:avLst>
          </a:prstGeom>
          <a:solidFill>
            <a:srgbClr val="162233"/>
          </a:solidFill>
          <a:ln w="1270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36976" y="1298448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00D4AA">
              <a:alpha val="80000"/>
            </a:srgbClr>
          </a:solidFill>
          <a:ln w="12700">
            <a:solidFill>
              <a:srgbClr val="00D4AA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133502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46704" y="15361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74136" y="202996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Dual-core MCU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25511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evaluation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307238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control for actuators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35935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HTTPS upload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74136" y="41148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ESP Client lib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9904" y="1298448"/>
            <a:ext cx="2697480" cy="3493008"/>
          </a:xfrm>
          <a:prstGeom prst="roundRect">
            <a:avLst>
              <a:gd name="adj" fmla="val 3390"/>
            </a:avLst>
          </a:prstGeom>
          <a:solidFill>
            <a:srgbClr val="162233"/>
          </a:solidFill>
          <a:ln w="12700">
            <a:solidFill>
              <a:srgbClr val="7B9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298448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7B9FFF">
              <a:alpha val="80000"/>
            </a:srgbClr>
          </a:solidFill>
          <a:ln w="12700">
            <a:solidFill>
              <a:srgbClr val="7B9FF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133502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99632" y="15361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27064" y="202996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27064" y="255117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27064" y="307238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JSON structure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27064" y="35935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App Inventor 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064" y="411480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alerts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90088" y="2834640"/>
            <a:ext cx="246888" cy="54864"/>
          </a:xfrm>
          <a:prstGeom prst="rect">
            <a:avLst/>
          </a:prstGeom>
          <a:solidFill>
            <a:srgbClr val="7EB8AA"/>
          </a:solidFill>
          <a:ln w="12700">
            <a:solidFill>
              <a:srgbClr val="7EB8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18104" y="274320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43016" y="2834640"/>
            <a:ext cx="246888" cy="54864"/>
          </a:xfrm>
          <a:prstGeom prst="rect">
            <a:avLst/>
          </a:prstGeom>
          <a:solidFill>
            <a:srgbClr val="7EB8AA"/>
          </a:solidFill>
          <a:ln w="12700">
            <a:solidFill>
              <a:srgbClr val="7EB8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71032" y="274320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 /  HTTPS  /  Firebase SDK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9844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62233"/>
          </a:solidFill>
          <a:ln w="12700">
            <a:solidFill>
              <a:srgbClr val="00D4A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499616"/>
            <a:ext cx="384048" cy="384048"/>
          </a:xfrm>
          <a:prstGeom prst="ellipse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microcontroller with dual-core CPU, Wi-Fi &amp; BT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29844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62233"/>
          </a:solidFill>
          <a:ln w="12700">
            <a:solidFill>
              <a:srgbClr val="FF9B54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499616"/>
            <a:ext cx="384048" cy="384048"/>
          </a:xfrm>
          <a:prstGeom prst="ellipse">
            <a:avLst/>
          </a:prstGeom>
          <a:solidFill>
            <a:srgbClr val="FF9B54">
              <a:alpha val="75000"/>
            </a:srgbClr>
          </a:solidFill>
          <a:ln w="12700">
            <a:solidFill>
              <a:srgbClr val="FF9B54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14630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Sensor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95681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(±0.5°C) &amp; humidity (±2% RH) — GPIO 27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303580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62233"/>
          </a:solidFill>
          <a:ln w="12700">
            <a:solidFill>
              <a:srgbClr val="FF4D4D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3236976"/>
            <a:ext cx="384048" cy="384048"/>
          </a:xfrm>
          <a:prstGeom prst="ellipse">
            <a:avLst/>
          </a:prstGeom>
          <a:solidFill>
            <a:srgbClr val="FF4D4D">
              <a:alpha val="75000"/>
            </a:srgbClr>
          </a:solidFill>
          <a:ln w="12700">
            <a:solidFill>
              <a:srgbClr val="FF4D4D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2004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Gas Sensor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69417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LPG, methane, CO &amp; smoke — Analog GPIO 35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03580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62233"/>
          </a:solidFill>
          <a:ln w="12700">
            <a:solidFill>
              <a:srgbClr val="7B9FFF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3236976"/>
            <a:ext cx="384048" cy="384048"/>
          </a:xfrm>
          <a:prstGeom prst="ellipse">
            <a:avLst/>
          </a:prstGeom>
          <a:solidFill>
            <a:srgbClr val="7B9FFF">
              <a:alpha val="75000"/>
            </a:srgbClr>
          </a:solidFill>
          <a:ln w="12700">
            <a:solidFill>
              <a:srgbClr val="7B9FFF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20040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(HC-SR501)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 7m range  120° FOV — GPIO 15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477316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62233"/>
          </a:solidFill>
          <a:ln w="12700">
            <a:solidFill>
              <a:srgbClr val="4EDE8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10712" y="4974336"/>
            <a:ext cx="384048" cy="384048"/>
          </a:xfrm>
          <a:prstGeom prst="ellipse">
            <a:avLst/>
          </a:prstGeom>
          <a:solidFill>
            <a:srgbClr val="4EDE8A">
              <a:alpha val="75000"/>
            </a:srgbClr>
          </a:solidFill>
          <a:ln w="12700">
            <a:solidFill>
              <a:srgbClr val="4EDE8A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86200" y="49377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543153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mains-powered exhaust / ventilation — GPIO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4773168"/>
            <a:ext cx="2724912" cy="1572768"/>
          </a:xfrm>
          <a:prstGeom prst="roundRect">
            <a:avLst>
              <a:gd name="adj" fmla="val 5814"/>
            </a:avLst>
          </a:prstGeom>
          <a:solidFill>
            <a:srgbClr val="162233"/>
          </a:solidFill>
          <a:ln w="12700">
            <a:solidFill>
              <a:srgbClr val="7EB8A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91072" y="4974336"/>
            <a:ext cx="384048" cy="384048"/>
          </a:xfrm>
          <a:prstGeom prst="ellipse">
            <a:avLst/>
          </a:prstGeom>
          <a:solidFill>
            <a:srgbClr val="7EB8AA">
              <a:alpha val="75000"/>
            </a:srgbClr>
          </a:solidFill>
          <a:ln w="12700">
            <a:solidFill>
              <a:srgbClr val="7EB8AA">
                <a:alpha val="7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9377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5431536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&amp; visual alarm inside lab — GPIO 14 / 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Configuration &amp; Safety Thresholds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GPIO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(1-Wire)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Button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Analogue (ADC)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D0ED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 (PWM)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F4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298448"/>
            <a:ext cx="4846320" cy="429768"/>
          </a:xfrm>
          <a:prstGeom prst="roundRect">
            <a:avLst>
              <a:gd name="adj" fmla="val 10638"/>
            </a:avLst>
          </a:prstGeom>
          <a:solidFill>
            <a:srgbClr val="00D4AA">
              <a:alpha val="85000"/>
            </a:srgbClr>
          </a:solidFill>
          <a:ln w="12700">
            <a:solidFill>
              <a:srgbClr val="00D4AA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335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GPIO</a:t>
            </a:r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Signal Type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1298448"/>
            <a:ext cx="3154680" cy="3520440"/>
          </a:xfrm>
          <a:prstGeom prst="roundRect">
            <a:avLst>
              <a:gd name="adj" fmla="val 2899"/>
            </a:avLst>
          </a:prstGeom>
          <a:solidFill>
            <a:srgbClr val="162233"/>
          </a:solidFill>
          <a:ln w="12700">
            <a:solidFill>
              <a:srgbClr val="FF4D4D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15000" y="142646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DANGER THRESHOLDS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0" y="1920240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1B2A3B"/>
          </a:solidFill>
          <a:ln w="12700">
            <a:solidFill>
              <a:srgbClr val="FF4D4D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33872" y="19751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33872" y="22494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°C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272491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1B2A3B"/>
          </a:solidFill>
          <a:ln w="12700">
            <a:solidFill>
              <a:srgbClr val="FF4D4D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3872" y="277977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(MQ-2 ADC)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33872" y="305409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3800 counts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0" y="3529584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1B2A3B"/>
          </a:solidFill>
          <a:ln w="12700">
            <a:solidFill>
              <a:srgbClr val="FF4D4D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358444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(PIR)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833872" y="38587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detection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715000" y="4334256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1B2A3B"/>
          </a:solidFill>
          <a:ln w="12700">
            <a:solidFill>
              <a:srgbClr val="FF4D4D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33872" y="438912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Sensor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833872" y="46634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50992" y="46451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condition → DANGER state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– ESP32 Control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00" cy="3611880"/>
          </a:xfrm>
          <a:prstGeom prst="roundRect">
            <a:avLst>
              <a:gd name="adj" fmla="val 2532"/>
            </a:avLst>
          </a:prstGeom>
          <a:solidFill>
            <a:srgbClr val="0A1520"/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2646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8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Simplified main loop (runs every 1 second)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dht.getTemperature();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94310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analogRead(MQ2_PIN);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digitalRead(PIR_PIN);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35458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digitalRead(FIRE_PIN);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256032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76606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(temp &gt; 50.0) ||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97180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(gas &gt; 3800) ||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1775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(mot == HIGH) || (fire == LOW);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58902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(RELAY_PIN, 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 ? HIGH : LOW);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379476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digitalWrite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(BUZZER_PIN,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 ? HIGH : LOW);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400050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420624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Firebase.RTDB.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setFloat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(&amp;fbdo, "/Lab/temp", temp);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41198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Firebase.RTDB.</a:t>
            </a: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setString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(&amp;fbdo, "/Lab/status",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617720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 ? "Danger" : "Safe");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42432" y="1298448"/>
            <a:ext cx="2990088" cy="804672"/>
          </a:xfrm>
          <a:prstGeom prst="roundRect">
            <a:avLst>
              <a:gd name="adj" fmla="val 10227"/>
            </a:avLst>
          </a:prstGeom>
          <a:solidFill>
            <a:srgbClr val="162233"/>
          </a:solidFill>
          <a:ln w="12700">
            <a:solidFill>
              <a:srgbClr val="00D4A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1481328"/>
            <a:ext cx="347472" cy="347472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Sensors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1072" y="1700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DHT22, MQ-2, PIR &amp; Fire — every 1 second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42432" y="2212848"/>
            <a:ext cx="2990088" cy="804672"/>
          </a:xfrm>
          <a:prstGeom prst="roundRect">
            <a:avLst>
              <a:gd name="adj" fmla="val 10227"/>
            </a:avLst>
          </a:prstGeom>
          <a:solidFill>
            <a:srgbClr val="162233"/>
          </a:solidFill>
          <a:ln w="12700">
            <a:solidFill>
              <a:srgbClr val="FF9B54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52160" y="2395728"/>
            <a:ext cx="347472" cy="347472"/>
          </a:xfrm>
          <a:prstGeom prst="ellipse">
            <a:avLst/>
          </a:prstGeom>
          <a:solidFill>
            <a:srgbClr val="FF9B54">
              <a:alpha val="80000"/>
            </a:srgbClr>
          </a:solidFill>
          <a:ln w="12700">
            <a:solidFill>
              <a:srgbClr val="FF9B54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395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3042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Safety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91072" y="26151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OR-logic: any threshold breach = Danger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42432" y="3127248"/>
            <a:ext cx="2990088" cy="804672"/>
          </a:xfrm>
          <a:prstGeom prst="roundRect">
            <a:avLst>
              <a:gd name="adj" fmla="val 10227"/>
            </a:avLst>
          </a:prstGeom>
          <a:solidFill>
            <a:srgbClr val="162233"/>
          </a:solidFill>
          <a:ln w="12700">
            <a:solidFill>
              <a:srgbClr val="FF4D4D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52160" y="3310128"/>
            <a:ext cx="347472" cy="347472"/>
          </a:xfrm>
          <a:prstGeom prst="ellipse">
            <a:avLst/>
          </a:prstGeom>
          <a:solidFill>
            <a:srgbClr val="FF4D4D">
              <a:alpha val="80000"/>
            </a:srgbClr>
          </a:solidFill>
          <a:ln w="12700">
            <a:solidFill>
              <a:srgbClr val="FF4D4D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91072" y="3218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Actuate Locally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35295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Relay, Buzzer &amp; LED respond immediately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42432" y="4041648"/>
            <a:ext cx="2990088" cy="804672"/>
          </a:xfrm>
          <a:prstGeom prst="roundRect">
            <a:avLst>
              <a:gd name="adj" fmla="val 10227"/>
            </a:avLst>
          </a:prstGeom>
          <a:solidFill>
            <a:srgbClr val="162233"/>
          </a:solidFill>
          <a:ln w="12700">
            <a:solidFill>
              <a:srgbClr val="7B9FFF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52160" y="4224528"/>
            <a:ext cx="347472" cy="347472"/>
          </a:xfrm>
          <a:prstGeom prst="ellipse">
            <a:avLst/>
          </a:prstGeom>
          <a:solidFill>
            <a:srgbClr val="7B9FFF">
              <a:alpha val="80000"/>
            </a:srgbClr>
          </a:solidFill>
          <a:ln w="12700">
            <a:solidFill>
              <a:srgbClr val="7B9FFF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91072" y="4133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Firebase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91072" y="4443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JSON to /Laboratory node via HTTPS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&amp; Mobile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162233"/>
          </a:solidFill>
          <a:ln w="12700">
            <a:solidFill>
              <a:srgbClr val="FF9B54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42646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Firebase Realtime Database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865376"/>
            <a:ext cx="3886200" cy="2194560"/>
          </a:xfrm>
          <a:prstGeom prst="roundRect">
            <a:avLst>
              <a:gd name="adj" fmla="val 2917"/>
            </a:avLst>
          </a:prstGeom>
          <a:solidFill>
            <a:srgbClr val="0A1520"/>
          </a:solidFill>
          <a:ln w="12700">
            <a:solidFill>
              <a:srgbClr val="FF9B54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3852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"Laboratory": 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137867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"temperature" : 24.5,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33720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"humidity"    : 42.0,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53654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"gas"         : 1230,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2735885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"motion"      : 0,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293522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"fire"        : 0,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3134563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"relay"       : 0,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" y="333390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"status"      : "Safe"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353324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732581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41330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Rules: Read/Write restricted to authenticated users only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73752" y="1298448"/>
            <a:ext cx="3858768" cy="3611880"/>
          </a:xfrm>
          <a:prstGeom prst="roundRect">
            <a:avLst>
              <a:gd name="adj" fmla="val 2532"/>
            </a:avLst>
          </a:prstGeom>
          <a:solidFill>
            <a:srgbClr val="162233"/>
          </a:solidFill>
          <a:ln w="12700">
            <a:solidFill>
              <a:srgbClr val="7B9FFF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42646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MIT App Inventor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10912" y="1883664"/>
            <a:ext cx="3566160" cy="530352"/>
          </a:xfrm>
          <a:prstGeom prst="roundRect">
            <a:avLst>
              <a:gd name="adj" fmla="val 12069"/>
            </a:avLst>
          </a:prstGeom>
          <a:solidFill>
            <a:srgbClr val="1B2A3B"/>
          </a:solidFill>
          <a:ln w="12700">
            <a:solidFill>
              <a:srgbClr val="7B9FFF">
                <a:alpha val="1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92938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Login Screen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15798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email/password auth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10912" y="2487168"/>
            <a:ext cx="3566160" cy="530352"/>
          </a:xfrm>
          <a:prstGeom prst="roundRect">
            <a:avLst>
              <a:gd name="adj" fmla="val 12069"/>
            </a:avLst>
          </a:prstGeom>
          <a:solidFill>
            <a:srgbClr val="1B2A3B"/>
          </a:solidFill>
          <a:ln w="12700">
            <a:solidFill>
              <a:srgbClr val="7B9FFF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5328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Dashboard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76148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 values updated in real-time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10912" y="3090672"/>
            <a:ext cx="3566160" cy="530352"/>
          </a:xfrm>
          <a:prstGeom prst="roundRect">
            <a:avLst>
              <a:gd name="adj" fmla="val 12069"/>
            </a:avLst>
          </a:prstGeom>
          <a:solidFill>
            <a:srgbClr val="1B2A3B"/>
          </a:solidFill>
          <a:ln w="12700">
            <a:solidFill>
              <a:srgbClr val="7B9FFF">
                <a:alpha val="1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13639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Safe Indicator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36499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badge — all within limits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10912" y="3694176"/>
            <a:ext cx="3566160" cy="530352"/>
          </a:xfrm>
          <a:prstGeom prst="roundRect">
            <a:avLst>
              <a:gd name="adj" fmla="val 12069"/>
            </a:avLst>
          </a:prstGeom>
          <a:solidFill>
            <a:srgbClr val="1B2A3B"/>
          </a:solidFill>
          <a:ln w="12700">
            <a:solidFill>
              <a:srgbClr val="7B9FFF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73989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Danger Alert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96849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badge — immediate notification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10912" y="4297680"/>
            <a:ext cx="3566160" cy="530352"/>
          </a:xfrm>
          <a:prstGeom prst="roundRect">
            <a:avLst>
              <a:gd name="adj" fmla="val 12069"/>
            </a:avLst>
          </a:prstGeom>
          <a:solidFill>
            <a:srgbClr val="1B2A3B"/>
          </a:solidFill>
          <a:ln w="12700">
            <a:solidFill>
              <a:srgbClr val="7B9FFF">
                <a:alpha val="1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34340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 Refresh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457200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FirebaseDB GotValue event listener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162233"/>
          </a:solidFill>
          <a:ln w="1270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Sampling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0048" y="129844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162233"/>
          </a:solidFill>
          <a:ln w="12700">
            <a:solidFill>
              <a:srgbClr val="FF9B54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0048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70048" y="19385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37176" y="129844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162233"/>
          </a:solidFill>
          <a:ln w="12700">
            <a:solidFill>
              <a:srgbClr val="7B9F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37176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&lt;800ms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37176" y="19385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UI Refresh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04304" y="129844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162233"/>
          </a:solidFill>
          <a:ln w="12700">
            <a:solidFill>
              <a:srgbClr val="4EDE8A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04304" y="1389888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&lt;1.5 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04304" y="1938528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Alert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743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Normal Operation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24528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safe, relay OFF, green app indicator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8321040" cy="9144"/>
          </a:xfrm>
          <a:prstGeom prst="rect">
            <a:avLst/>
          </a:prstGeom>
          <a:solidFill>
            <a:srgbClr val="7EB8AA">
              <a:alpha val="20000"/>
            </a:srgbClr>
          </a:solidFill>
          <a:ln w="12700">
            <a:solidFill>
              <a:srgbClr val="7EB8AA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Gas Leak (MQ-2 &gt; 3800)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24528" y="3657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Immediate Danger, relay + buzzer + red alert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8321040" cy="9144"/>
          </a:xfrm>
          <a:prstGeom prst="rect">
            <a:avLst/>
          </a:prstGeom>
          <a:solidFill>
            <a:srgbClr val="7EB8AA">
              <a:alpha val="20000"/>
            </a:srgbClr>
          </a:solidFill>
          <a:ln w="12700">
            <a:solidFill>
              <a:srgbClr val="7EB8AA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Temperature &gt; 50°C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24528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Danger state, all actuators triggered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498848"/>
            <a:ext cx="8321040" cy="9144"/>
          </a:xfrm>
          <a:prstGeom prst="rect">
            <a:avLst/>
          </a:prstGeom>
          <a:solidFill>
            <a:srgbClr val="7EB8AA">
              <a:alpha val="20000"/>
            </a:srgbClr>
          </a:solidFill>
          <a:ln w="12700">
            <a:solidFill>
              <a:srgbClr val="7EB8AA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 Motion Detected (PIR)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24528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Unauthorized access alert activated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956048"/>
            <a:ext cx="8321040" cy="9144"/>
          </a:xfrm>
          <a:prstGeom prst="rect">
            <a:avLst/>
          </a:prstGeom>
          <a:solidFill>
            <a:srgbClr val="7EB8AA">
              <a:alpha val="20000"/>
            </a:srgbClr>
          </a:solidFill>
          <a:ln w="12700">
            <a:solidFill>
              <a:srgbClr val="7EB8AA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633472"/>
            <a:ext cx="8321040" cy="18288"/>
          </a:xfrm>
          <a:prstGeom prst="round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using Wokwi Simulator + Firebase Console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9E7E">
              <a:alpha val="12000"/>
            </a:srgbClr>
          </a:solidFill>
          <a:ln w="12700">
            <a:solidFill>
              <a:srgbClr val="009E7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8138160" cy="22860"/>
          </a:xfrm>
          <a:prstGeom prst="rect">
            <a:avLst/>
          </a:prstGeom>
          <a:solidFill>
            <a:srgbClr val="7EB8AA">
              <a:alpha val="35000"/>
            </a:srgbClr>
          </a:solidFill>
          <a:ln w="12700">
            <a:solidFill>
              <a:srgbClr val="7EB8A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98448"/>
            <a:ext cx="4160520" cy="3611880"/>
          </a:xfrm>
          <a:prstGeom prst="roundRect">
            <a:avLst>
              <a:gd name="adj" fmla="val 2532"/>
            </a:avLst>
          </a:prstGeom>
          <a:solidFill>
            <a:srgbClr val="162233"/>
          </a:solidFill>
          <a:ln w="12700">
            <a:solidFill>
              <a:srgbClr val="00D4AA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42646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 IoT lab safety monitoring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40487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Sub-1.5 s end-to-end hazard alert latency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90779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local response (relay &amp; buzzer)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41071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sync with authenticated access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91363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with real-time color-coded alerts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416552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Wokwi + Firebase Console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1298448"/>
            <a:ext cx="3858768" cy="3611880"/>
          </a:xfrm>
          <a:prstGeom prst="roundRect">
            <a:avLst>
              <a:gd name="adj" fmla="val 2532"/>
            </a:avLst>
          </a:prstGeom>
          <a:solidFill>
            <a:srgbClr val="162233"/>
          </a:solidFill>
          <a:ln w="12700">
            <a:solidFill>
              <a:srgbClr val="7B9FFF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42646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90195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push-button with KY-026 flame sensor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40487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 alerts via Twilio / SendGrid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90779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analytics &amp; trend charts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1071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for lower-latency communication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91363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buffering via ESP32 NVS 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41655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anomaly detection (TinyML)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9E7E">
              <a:alpha val="10000"/>
            </a:srgbClr>
          </a:solidFill>
          <a:ln w="12700">
            <a:solidFill>
              <a:srgbClr val="009E7E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1810512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B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670048"/>
            <a:ext cx="4572000" cy="2084832"/>
          </a:xfrm>
          <a:prstGeom prst="roundRect">
            <a:avLst>
              <a:gd name="adj" fmla="val 5263"/>
            </a:avLst>
          </a:prstGeom>
          <a:solidFill>
            <a:srgbClr val="162233"/>
          </a:solidFill>
          <a:ln w="12700">
            <a:solidFill>
              <a:srgbClr val="00D4A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95728" y="2779776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Chitturi Sanjay Kumar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95728" y="3163824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24B11EC057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95728" y="3547872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 Electronics &amp; Communication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95728" y="3931920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University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95728" y="4315968"/>
            <a:ext cx="4352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SPS Student Branch Chapter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Laboratory Safety System</dc:title>
  <dc:subject>PptxGenJS Presentation</dc:subject>
  <dc:creator>Chitturi Sanjay Kumar</dc:creator>
  <cp:lastModifiedBy>Chitturi Sanjay Kumar</cp:lastModifiedBy>
  <cp:revision>1</cp:revision>
  <dcterms:created xsi:type="dcterms:W3CDTF">2026-06-24T20:10:27Z</dcterms:created>
  <dcterms:modified xsi:type="dcterms:W3CDTF">2026-06-24T20:10:27Z</dcterms:modified>
</cp:coreProperties>
</file>